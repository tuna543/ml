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F3B90F-3F7D-4726-8AE1-53D3B84C02E8}">
  <a:tblStyle styleId="{D9F3B90F-3F7D-4726-8AE1-53D3B84C02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9489e444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9489e444f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6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4.png"/><Relationship Id="rId7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15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9" Type="http://schemas.openxmlformats.org/officeDocument/2006/relationships/image" Target="../media/image24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90574" y="1763017"/>
            <a:ext cx="6810851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Machine Learning: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Regularization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86175" y="4010917"/>
            <a:ext cx="48196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Addressing Overfitting &amp; Complexity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5056733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405437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52575"/>
            <a:ext cx="5405437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66775" y="1847850"/>
            <a:ext cx="505563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What it is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2381250"/>
            <a:ext cx="48148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Regularization is a technique used to calibrate machine learning models to minimize the adjusted loss function and prevent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overfitting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438525"/>
            <a:ext cx="48148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adds a penalty term to the cost function to discourage overly complex models by shrinking the magnitude of the coefficients.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10337" y="1847850"/>
            <a:ext cx="505563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The Core Objective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10337" y="2381250"/>
            <a:ext cx="48148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goal is to solve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Bias-Variance Trade-off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By adding a small amount of bias, we significantly reduce the variance of the model on unseen data.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6537" y="34480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00837" y="3448050"/>
            <a:ext cx="4624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Prevents high coefficients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86537" y="37528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00837" y="3752850"/>
            <a:ext cx="4624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Simplifies the model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6537" y="40576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00837" y="4057650"/>
            <a:ext cx="46243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Improves generalization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Introduction to Regularization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52575"/>
            <a:ext cx="5334000" cy="267890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1552575"/>
            <a:ext cx="5600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What it is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085975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Ridge regression addresses overfitting by adding a penalty proportional to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square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 the magnitude of coefficients (L2 penalty).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1432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"shrinks" coefficients towards zero but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never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makes them exactly zero.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34150" y="1800225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DD3FC"/>
                </a:solidFill>
                <a:latin typeface="Lato"/>
                <a:ea typeface="Lato"/>
                <a:cs typeface="Lato"/>
                <a:sym typeface="Lato"/>
              </a:rPr>
              <a:t>L2 Loss Formula: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34150" y="2865834"/>
            <a:ext cx="48387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Breakdown: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First term: Ordinary Least Squares (Residual Sum of Squares).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: Tuning parameter (regularization strength).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: L2 penalty (squared coefficients).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4150" y="2200275"/>
            <a:ext cx="3456830" cy="522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458170"/>
            <a:ext cx="7992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9875" y="3632150"/>
            <a:ext cx="15582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Ridge Regression (L2 Regularization)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0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3340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52575"/>
            <a:ext cx="53340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66775" y="1847850"/>
            <a:ext cx="49806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When to Use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581775" y="1847850"/>
            <a:ext cx="49806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Sensitivity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81775" y="2381250"/>
            <a:ext cx="4743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Ridge regression is sensitive to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scaling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 input features. Since it uses squared coefficients, features with larger scales will be penalized more heavily than those with smaller scales.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81775" y="374332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Note: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Always perform Feature Scaling (Standardization) before applying Ridge.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247775" y="24765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when most features contribute slightly to the output.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47775" y="32766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Best when independent variables are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highly correlated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(Multicollinearity).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47775" y="407670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Effective when (more features than samples).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5146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314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1148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Ridge Usage &amp; Sensitivity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52575"/>
            <a:ext cx="5334000" cy="267890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1552575"/>
            <a:ext cx="5600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What it is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0859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Lasso (Least Absolute Shrinkage and Selection Operator) adds a penalty equal to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absolute value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 coefficients (L1 penalty).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28384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can force coefficients to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exactly zero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effectively acting as a feature selection method.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34150" y="1800225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7DD3FC"/>
                </a:solidFill>
                <a:latin typeface="Lato"/>
                <a:ea typeface="Lato"/>
                <a:cs typeface="Lato"/>
                <a:sym typeface="Lato"/>
              </a:rPr>
              <a:t>L1 Loss Formula: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534150" y="2865834"/>
            <a:ext cx="48387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Breakdown: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First term: Residual Sum of Squares (Error).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: Regularization strength.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: L1 penalty (absolute values).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4150" y="2200275"/>
            <a:ext cx="3766095" cy="522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458170"/>
            <a:ext cx="7992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9875" y="3663850"/>
            <a:ext cx="361801" cy="16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Lasso Regression (L1 Regularization)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7812"/>
            <a:ext cx="5405437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47812"/>
            <a:ext cx="5405437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14837"/>
            <a:ext cx="1104900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866775" y="1843087"/>
            <a:ext cx="505563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Feature Selection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66775" y="2376487"/>
            <a:ext cx="48148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Lasso is unique because it creates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sparse models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If a feature is not important, its coefficient is reduced to zero.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3128962"/>
            <a:ext cx="48148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provides an automated way to perform variable selection, simplifying the model significantly.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510337" y="1843087"/>
            <a:ext cx="505563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When to Use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66775" y="4710112"/>
            <a:ext cx="1098137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Sensitivity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66775" y="5243512"/>
            <a:ext cx="10458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Lasso is highly sensitive to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multicollinearity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If two features are highly correlated, Lasso tends to pick one arbitrarily and zero out the other, which can lead to unstable model interpretations.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891337" y="2471737"/>
            <a:ext cx="443388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when you suspect only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small subset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 features is useful.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891337" y="3271837"/>
            <a:ext cx="44338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Excellent for automatic variable reduction.</a:t>
            </a:r>
            <a:endParaRPr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10337" y="2509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10337" y="33099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62000" y="56673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Lasso Selection &amp; Sensitivity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566737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1714500"/>
            <a:ext cx="518160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14500"/>
            <a:ext cx="518160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019425"/>
            <a:ext cx="44005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3019425"/>
            <a:ext cx="44005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1066800" y="2105025"/>
            <a:ext cx="462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Montserrat"/>
                <a:ea typeface="Montserrat"/>
                <a:cs typeface="Montserrat"/>
                <a:sym typeface="Montserrat"/>
              </a:rPr>
              <a:t> Ridge in Python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066800" y="2571750"/>
            <a:ext cx="44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Using Scikit-Learn to apply L2 regularization: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724650" y="2105025"/>
            <a:ext cx="462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A3E635"/>
                </a:solidFill>
                <a:latin typeface="Montserrat"/>
                <a:ea typeface="Montserrat"/>
                <a:cs typeface="Montserrat"/>
                <a:sym typeface="Montserrat"/>
              </a:rPr>
              <a:t> Lasso in Python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724650" y="2571750"/>
            <a:ext cx="44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Using Scikit-Learn to apply L1 regularization: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21336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213360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676275" y="48577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Implementing </a:t>
            </a:r>
            <a:r>
              <a:rPr b="1" i="0" lang="en-US" sz="36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Regularization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676275" y="1181100"/>
            <a:ext cx="108396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4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52575"/>
            <a:ext cx="5334000" cy="24753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571500" y="1552575"/>
            <a:ext cx="5600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What it is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71500" y="2311038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Elastic Net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a hybrid regularization technique that combines both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L1 (Lasso)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L2 (Ridge)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penalties.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3231650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aims to retain the feature selection property of Lasso while adding the stability and grouping effect of Ridge.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534150" y="1800225"/>
            <a:ext cx="483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7DD3FC"/>
                </a:solidFill>
                <a:latin typeface="Lato"/>
                <a:ea typeface="Lato"/>
                <a:cs typeface="Lato"/>
                <a:sym typeface="Lato"/>
              </a:rPr>
              <a:t>Elastic Net</a:t>
            </a:r>
            <a:r>
              <a:rPr b="0" i="0" lang="en-US" sz="1500" u="none" cap="none" strike="noStrike">
                <a:solidFill>
                  <a:srgbClr val="7DD3FC"/>
                </a:solidFill>
                <a:latin typeface="Lato"/>
                <a:ea typeface="Lato"/>
                <a:cs typeface="Lato"/>
                <a:sym typeface="Lato"/>
              </a:rPr>
              <a:t> Loss Formula: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534150" y="2662237"/>
            <a:ext cx="4838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Formula Breakdown: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: Controls L1 (Lasso) penalty component.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: Controls L2 (Ridge) penalty component.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- Often implemented with a single and an </a:t>
            </a: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L1 Ratio</a:t>
            </a: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(mix parameter).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4150" y="2219176"/>
            <a:ext cx="3603128" cy="30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010792"/>
            <a:ext cx="162669" cy="111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9875" y="3254573"/>
            <a:ext cx="162669" cy="1111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72525" y="3498353"/>
            <a:ext cx="7992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Elastic Net</a:t>
            </a: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 (L1 + L2 Combination)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53340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52575"/>
            <a:ext cx="53340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866775" y="1847850"/>
            <a:ext cx="49806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When to Use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581775" y="1847850"/>
            <a:ext cx="498062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Sensitivity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581775" y="2381250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Sensitive to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L1 Ratio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If ratio = 1, it behaves as Lasso; if ratio = 0, it behaves as Ridge.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581775" y="3133725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overcomes Lasso’s limitation of picking features randomly among highly correlated variables by grouping them and keeping them together.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247775" y="247650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 when there are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multiple correlated features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247775" y="29718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When feature selection is needed but Lasso is too unstable.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247775" y="37719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Default choice when you have no prior knowledge of feature importance.</a:t>
            </a:r>
            <a:endParaRPr/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5146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0099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8100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ElasticNet Usage &amp; Sensitivity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2557462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α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3700462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DD3FC"/>
                </a:solidFill>
                <a:latin typeface="Lato"/>
                <a:ea typeface="Lato"/>
                <a:cs typeface="Lato"/>
                <a:sym typeface="Lato"/>
              </a:rPr>
              <a:t>The Tuning Parameter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286500" y="1552575"/>
            <a:ext cx="5600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Finding the Optimal α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286500" y="2085975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parameter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α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(sometimes denoted as λ) controls the tradeoff between fitting the training data and keeping the coefficients small.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667500" y="31908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α = 0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Equivalent to OLS (No regularization).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667500" y="36861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α → ∞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Coefficients approach 0 (Underfitting).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667500" y="41814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Best Practice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Use Cross-Validation (e.g., GridSearchCV) to find the α that minimizes validation error.</a:t>
            </a:r>
            <a:endParaRPr/>
          </a:p>
        </p:txBody>
      </p:sp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228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724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2195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Tuning Hyperparameter Alpha (α)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4" name="Google Shape;254;p23"/>
          <p:cNvGraphicFramePr/>
          <p:nvPr/>
        </p:nvGraphicFramePr>
        <p:xfrm>
          <a:off x="571500" y="1743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{D9F3B90F-3F7D-4726-8AE1-53D3B84C02E8}</a:tableStyleId>
              </a:tblPr>
              <a:tblGrid>
                <a:gridCol w="2574425"/>
                <a:gridCol w="2748700"/>
                <a:gridCol w="2829225"/>
                <a:gridCol w="2896650"/>
              </a:tblGrid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Ridge (L2)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Lasso (L1)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ElasticNet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Penalty Term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Squared Magnitude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Absolute Magnitude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Combination of Both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Coefficient Zero?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Never (Only tiny)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Yes (Sparse models)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Feature Selection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Yes (Built-in)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Best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Multicollinearity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Sparse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Correlated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23"/>
          <p:cNvSpPr/>
          <p:nvPr/>
        </p:nvSpPr>
        <p:spPr>
          <a:xfrm>
            <a:off x="571500" y="2386012"/>
            <a:ext cx="257442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3145928" y="2386012"/>
            <a:ext cx="274870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894635" y="2386012"/>
            <a:ext cx="2829222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8723858" y="2386012"/>
            <a:ext cx="289664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71500" y="3043237"/>
            <a:ext cx="257442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3145928" y="3043237"/>
            <a:ext cx="274870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894635" y="3043237"/>
            <a:ext cx="2829222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8723858" y="3043237"/>
            <a:ext cx="289664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71500" y="3700462"/>
            <a:ext cx="257442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3145928" y="3700462"/>
            <a:ext cx="274870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894635" y="3700462"/>
            <a:ext cx="2829222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8723858" y="3700462"/>
            <a:ext cx="289664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71500" y="4357687"/>
            <a:ext cx="257442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3145928" y="4357687"/>
            <a:ext cx="274870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894635" y="4357687"/>
            <a:ext cx="2829222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8723858" y="4357687"/>
            <a:ext cx="289664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71500" y="5014912"/>
            <a:ext cx="257442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3145928" y="5014912"/>
            <a:ext cx="274870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894635" y="5014912"/>
            <a:ext cx="2829222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8723858" y="5014912"/>
            <a:ext cx="289664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Comparison of Techniques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35242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552575"/>
            <a:ext cx="35242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552575"/>
            <a:ext cx="352425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866775" y="2362200"/>
            <a:ext cx="308038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Standardize First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866775" y="2895600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Always scale your data before applying regularization to ensure penalties are applied fairly.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4629150" y="2362200"/>
            <a:ext cx="308038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Cross-Validate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4629150" y="2895600"/>
            <a:ext cx="2933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Never pick alpha arbitrarily. Use K-Fold Cross-Validation to optimize the penalty strength.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8391525" y="2362200"/>
            <a:ext cx="308038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7DD3FC"/>
                </a:solidFill>
                <a:latin typeface="Poppins"/>
                <a:ea typeface="Poppins"/>
                <a:cs typeface="Poppins"/>
                <a:sym typeface="Poppins"/>
              </a:rPr>
              <a:t>Select Wisely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8391525" y="2895600"/>
            <a:ext cx="2933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Start with ElasticNet if you have many correlated features or use Ridge if features are all likely relevant.</a:t>
            </a:r>
            <a:endParaRPr/>
          </a:p>
        </p:txBody>
      </p:sp>
      <p:pic>
        <p:nvPicPr>
          <p:cNvPr descr="image.png" id="291" name="Google Shape;29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8954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189547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1895475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Summary &amp; Best Practices</a:t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3925728" y="2393602"/>
            <a:ext cx="434054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4029075" y="3536602"/>
            <a:ext cx="4133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Deep Dive into Regularization Techniques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4029075" y="4283273"/>
            <a:ext cx="4133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Machine Learning Course | Section: Model Optimization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